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Hahmlet Bold" charset="1" panose="00000000000000000000"/>
      <p:regular r:id="rId12"/>
    </p:embeddedFont>
    <p:embeddedFont>
      <p:font typeface="The Youngest" charset="1" panose="0000050000000000000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985550" y="7854252"/>
            <a:ext cx="5595842" cy="1404048"/>
          </a:xfrm>
          <a:custGeom>
            <a:avLst/>
            <a:gdLst/>
            <a:ahLst/>
            <a:cxnLst/>
            <a:rect r="r" b="b" t="t" l="l"/>
            <a:pathLst>
              <a:path h="1404048" w="5595842">
                <a:moveTo>
                  <a:pt x="0" y="0"/>
                </a:moveTo>
                <a:lnTo>
                  <a:pt x="5595842" y="0"/>
                </a:lnTo>
                <a:lnTo>
                  <a:pt x="5595842" y="1404048"/>
                </a:lnTo>
                <a:lnTo>
                  <a:pt x="0" y="14040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77708" y="1028700"/>
            <a:ext cx="5595842" cy="1404048"/>
          </a:xfrm>
          <a:custGeom>
            <a:avLst/>
            <a:gdLst/>
            <a:ahLst/>
            <a:cxnLst/>
            <a:rect r="r" b="b" t="t" l="l"/>
            <a:pathLst>
              <a:path h="1404048" w="5595842">
                <a:moveTo>
                  <a:pt x="0" y="0"/>
                </a:moveTo>
                <a:lnTo>
                  <a:pt x="5595842" y="0"/>
                </a:lnTo>
                <a:lnTo>
                  <a:pt x="5595842" y="1404048"/>
                </a:lnTo>
                <a:lnTo>
                  <a:pt x="0" y="14040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10287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2019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5605621" y="6264854"/>
            <a:ext cx="7076758" cy="936046"/>
            <a:chOff x="0" y="0"/>
            <a:chExt cx="1456123" cy="192602"/>
          </a:xfrm>
        </p:grpSpPr>
        <p:sp>
          <p:nvSpPr>
            <p:cNvPr name="Freeform 7" id="7"/>
            <p:cNvSpPr/>
            <p:nvPr/>
          </p:nvSpPr>
          <p:spPr>
            <a:xfrm flipH="false" flipV="false" rot="0">
              <a:off x="0" y="0"/>
              <a:ext cx="1456123" cy="192602"/>
            </a:xfrm>
            <a:custGeom>
              <a:avLst/>
              <a:gdLst/>
              <a:ahLst/>
              <a:cxnLst/>
              <a:rect r="r" b="b" t="t" l="l"/>
              <a:pathLst>
                <a:path h="192602" w="1456123">
                  <a:moveTo>
                    <a:pt x="85468" y="0"/>
                  </a:moveTo>
                  <a:lnTo>
                    <a:pt x="1370655" y="0"/>
                  </a:lnTo>
                  <a:cubicBezTo>
                    <a:pt x="1417858" y="0"/>
                    <a:pt x="1456123" y="38265"/>
                    <a:pt x="1456123" y="85468"/>
                  </a:cubicBezTo>
                  <a:lnTo>
                    <a:pt x="1456123" y="107134"/>
                  </a:lnTo>
                  <a:cubicBezTo>
                    <a:pt x="1456123" y="154337"/>
                    <a:pt x="1417858" y="192602"/>
                    <a:pt x="1370655" y="192602"/>
                  </a:cubicBezTo>
                  <a:lnTo>
                    <a:pt x="85468" y="192602"/>
                  </a:lnTo>
                  <a:cubicBezTo>
                    <a:pt x="38265" y="192602"/>
                    <a:pt x="0" y="154337"/>
                    <a:pt x="0" y="107134"/>
                  </a:cubicBezTo>
                  <a:lnTo>
                    <a:pt x="0" y="85468"/>
                  </a:lnTo>
                  <a:cubicBezTo>
                    <a:pt x="0" y="38265"/>
                    <a:pt x="38265" y="0"/>
                    <a:pt x="85468" y="0"/>
                  </a:cubicBezTo>
                  <a:close/>
                </a:path>
              </a:pathLst>
            </a:custGeom>
            <a:solidFill>
              <a:srgbClr val="EAEAEA"/>
            </a:solidFill>
            <a:ln w="38100" cap="rnd">
              <a:solidFill>
                <a:srgbClr val="282828"/>
              </a:solidFill>
              <a:prstDash val="solid"/>
              <a:round/>
            </a:ln>
          </p:spPr>
        </p:sp>
        <p:sp>
          <p:nvSpPr>
            <p:cNvPr name="TextBox 8" id="8"/>
            <p:cNvSpPr txBox="true"/>
            <p:nvPr/>
          </p:nvSpPr>
          <p:spPr>
            <a:xfrm>
              <a:off x="0" y="-38100"/>
              <a:ext cx="1456123" cy="230702"/>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812371" y="6940043"/>
            <a:ext cx="521713" cy="52171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6953915" y="2989837"/>
            <a:ext cx="521713" cy="52171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6"/>
            <a:stretch>
              <a:fillRect l="0" t="0" r="0" b="0"/>
            </a:stretch>
          </a:blipFill>
        </p:spPr>
      </p:sp>
      <p:sp>
        <p:nvSpPr>
          <p:cNvPr name="TextBox 16" id="16"/>
          <p:cNvSpPr txBox="true"/>
          <p:nvPr/>
        </p:nvSpPr>
        <p:spPr>
          <a:xfrm rot="0">
            <a:off x="1571905" y="3995944"/>
            <a:ext cx="15144190" cy="1474270"/>
          </a:xfrm>
          <a:prstGeom prst="rect">
            <a:avLst/>
          </a:prstGeom>
        </p:spPr>
        <p:txBody>
          <a:bodyPr anchor="t" rtlCol="false" tIns="0" lIns="0" bIns="0" rIns="0">
            <a:spAutoFit/>
          </a:bodyPr>
          <a:lstStyle/>
          <a:p>
            <a:pPr algn="ctr">
              <a:lnSpc>
                <a:spcPts val="12004"/>
              </a:lnSpc>
            </a:pPr>
            <a:r>
              <a:rPr lang="en-US" sz="8574" b="true">
                <a:solidFill>
                  <a:srgbClr val="282828"/>
                </a:solidFill>
                <a:latin typeface="Hahmlet Bold"/>
                <a:ea typeface="Hahmlet Bold"/>
                <a:cs typeface="Hahmlet Bold"/>
                <a:sym typeface="Hahmlet Bold"/>
              </a:rPr>
              <a:t>CAPACITY CONNECT</a:t>
            </a:r>
          </a:p>
        </p:txBody>
      </p:sp>
      <p:sp>
        <p:nvSpPr>
          <p:cNvPr name="TextBox 17" id="17"/>
          <p:cNvSpPr txBox="true"/>
          <p:nvPr/>
        </p:nvSpPr>
        <p:spPr>
          <a:xfrm rot="0">
            <a:off x="6107727" y="6503883"/>
            <a:ext cx="6072546" cy="410362"/>
          </a:xfrm>
          <a:prstGeom prst="rect">
            <a:avLst/>
          </a:prstGeom>
        </p:spPr>
        <p:txBody>
          <a:bodyPr anchor="t" rtlCol="false" tIns="0" lIns="0" bIns="0" rIns="0">
            <a:spAutoFit/>
          </a:bodyPr>
          <a:lstStyle/>
          <a:p>
            <a:pPr algn="ctr">
              <a:lnSpc>
                <a:spcPts val="3375"/>
              </a:lnSpc>
            </a:pPr>
            <a:r>
              <a:rPr lang="en-US" sz="2411">
                <a:solidFill>
                  <a:srgbClr val="282828"/>
                </a:solidFill>
                <a:latin typeface="The Youngest"/>
                <a:ea typeface="The Youngest"/>
                <a:cs typeface="The Youngest"/>
                <a:sym typeface="The Youngest"/>
              </a:rPr>
              <a:t>A Peer-to-Peer</a:t>
            </a:r>
            <a:r>
              <a:rPr lang="en-US" sz="2411">
                <a:solidFill>
                  <a:srgbClr val="282828"/>
                </a:solidFill>
                <a:latin typeface="The Youngest"/>
                <a:ea typeface="The Youngest"/>
                <a:cs typeface="The Youngest"/>
                <a:sym typeface="The Youngest"/>
              </a:rPr>
              <a:t> Skill Sharing Platform</a:t>
            </a:r>
          </a:p>
        </p:txBody>
      </p:sp>
      <p:sp>
        <p:nvSpPr>
          <p:cNvPr name="TextBox 18" id="18"/>
          <p:cNvSpPr txBox="true"/>
          <p:nvPr/>
        </p:nvSpPr>
        <p:spPr>
          <a:xfrm rot="0">
            <a:off x="6732863" y="8065036"/>
            <a:ext cx="4822274" cy="1700876"/>
          </a:xfrm>
          <a:prstGeom prst="rect">
            <a:avLst/>
          </a:prstGeom>
        </p:spPr>
        <p:txBody>
          <a:bodyPr anchor="t" rtlCol="false" tIns="0" lIns="0" bIns="0" rIns="0">
            <a:spAutoFit/>
          </a:bodyPr>
          <a:lstStyle/>
          <a:p>
            <a:pPr algn="l">
              <a:lnSpc>
                <a:spcPts val="3375"/>
              </a:lnSpc>
            </a:pPr>
            <a:r>
              <a:rPr lang="en-US" sz="2411">
                <a:solidFill>
                  <a:srgbClr val="282828"/>
                </a:solidFill>
                <a:latin typeface="The Youngest"/>
                <a:ea typeface="The Youngest"/>
                <a:cs typeface="The Youngest"/>
                <a:sym typeface="The Youngest"/>
              </a:rPr>
              <a:t>Prese</a:t>
            </a:r>
            <a:r>
              <a:rPr lang="en-US" sz="2411">
                <a:solidFill>
                  <a:srgbClr val="282828"/>
                </a:solidFill>
                <a:latin typeface="The Youngest"/>
                <a:ea typeface="The Youngest"/>
                <a:cs typeface="The Youngest"/>
                <a:sym typeface="The Youngest"/>
              </a:rPr>
              <a:t>nted by:</a:t>
            </a:r>
          </a:p>
          <a:p>
            <a:pPr algn="l">
              <a:lnSpc>
                <a:spcPts val="3375"/>
              </a:lnSpc>
            </a:pPr>
            <a:r>
              <a:rPr lang="en-US" sz="2411">
                <a:solidFill>
                  <a:srgbClr val="282828"/>
                </a:solidFill>
                <a:latin typeface="The Youngest"/>
                <a:ea typeface="The Youngest"/>
                <a:cs typeface="The Youngest"/>
                <a:sym typeface="The Youngest"/>
              </a:rPr>
              <a:t>Marri Hruthika      -   2520090002</a:t>
            </a:r>
          </a:p>
          <a:p>
            <a:pPr algn="l">
              <a:lnSpc>
                <a:spcPts val="3375"/>
              </a:lnSpc>
            </a:pPr>
            <a:r>
              <a:rPr lang="en-US" sz="2411">
                <a:solidFill>
                  <a:srgbClr val="282828"/>
                </a:solidFill>
                <a:latin typeface="The Youngest"/>
                <a:ea typeface="The Youngest"/>
                <a:cs typeface="The Youngest"/>
                <a:sym typeface="The Youngest"/>
              </a:rPr>
              <a:t>K.Gyathri Srivalli   -   2520080010</a:t>
            </a:r>
          </a:p>
          <a:p>
            <a:pPr algn="l">
              <a:lnSpc>
                <a:spcPts val="3375"/>
              </a:lnSpc>
            </a:pPr>
            <a:r>
              <a:rPr lang="en-US" sz="2411">
                <a:solidFill>
                  <a:srgbClr val="282828"/>
                </a:solidFill>
                <a:latin typeface="The Youngest"/>
                <a:ea typeface="The Youngest"/>
                <a:cs typeface="The Youngest"/>
                <a:sym typeface="The Youngest"/>
              </a:rPr>
              <a:t>A.Yuktha               -   2520090093</a:t>
            </a:r>
          </a:p>
        </p:txBody>
      </p:sp>
      <p:sp>
        <p:nvSpPr>
          <p:cNvPr name="TextBox 19" id="19"/>
          <p:cNvSpPr txBox="true"/>
          <p:nvPr/>
        </p:nvSpPr>
        <p:spPr>
          <a:xfrm rot="0">
            <a:off x="5071109" y="741492"/>
            <a:ext cx="8145782" cy="1829146"/>
          </a:xfrm>
          <a:prstGeom prst="rect">
            <a:avLst/>
          </a:prstGeom>
        </p:spPr>
        <p:txBody>
          <a:bodyPr anchor="t" rtlCol="false" tIns="0" lIns="0" bIns="0" rIns="0">
            <a:spAutoFit/>
          </a:bodyPr>
          <a:lstStyle/>
          <a:p>
            <a:pPr algn="ctr">
              <a:lnSpc>
                <a:spcPts val="3375"/>
              </a:lnSpc>
            </a:pPr>
            <a:r>
              <a:rPr lang="en-US" sz="2411">
                <a:solidFill>
                  <a:srgbClr val="282828"/>
                </a:solidFill>
                <a:latin typeface="The Youngest"/>
                <a:ea typeface="The Youngest"/>
                <a:cs typeface="The Youngest"/>
                <a:sym typeface="The Youngest"/>
              </a:rPr>
              <a:t>DATABASE SYSTEMS ENGINEERING</a:t>
            </a:r>
            <a:r>
              <a:rPr lang="en-US" sz="2411">
                <a:solidFill>
                  <a:srgbClr val="282828"/>
                </a:solidFill>
                <a:latin typeface="The Youngest"/>
                <a:ea typeface="The Youngest"/>
                <a:cs typeface="The Youngest"/>
                <a:sym typeface="The Youngest"/>
              </a:rPr>
              <a:t> AND DISTRIBUTED BACKEND DEVELOPMENT (25CS1302E)</a:t>
            </a:r>
          </a:p>
          <a:p>
            <a:pPr algn="ctr">
              <a:lnSpc>
                <a:spcPts val="3935"/>
              </a:lnSpc>
            </a:pPr>
          </a:p>
          <a:p>
            <a:pPr algn="ctr">
              <a:lnSpc>
                <a:spcPts val="3935"/>
              </a:lnSpc>
            </a:pPr>
            <a:r>
              <a:rPr lang="en-US" sz="2811">
                <a:solidFill>
                  <a:srgbClr val="282828"/>
                </a:solidFill>
                <a:latin typeface="The Youngest"/>
                <a:ea typeface="The Youngest"/>
                <a:cs typeface="The Youngest"/>
                <a:sym typeface="The Youngest"/>
              </a:rPr>
              <a:t>Project Review 1</a:t>
            </a:r>
          </a:p>
        </p:txBody>
      </p:sp>
      <p:sp>
        <p:nvSpPr>
          <p:cNvPr name="TextBox 20" id="20"/>
          <p:cNvSpPr txBox="true"/>
          <p:nvPr/>
        </p:nvSpPr>
        <p:spPr>
          <a:xfrm rot="0">
            <a:off x="4738758" y="3193544"/>
            <a:ext cx="8810484" cy="448021"/>
          </a:xfrm>
          <a:prstGeom prst="rect">
            <a:avLst/>
          </a:prstGeom>
        </p:spPr>
        <p:txBody>
          <a:bodyPr anchor="t" rtlCol="false" tIns="0" lIns="0" bIns="0" rIns="0">
            <a:spAutoFit/>
          </a:bodyPr>
          <a:lstStyle/>
          <a:p>
            <a:pPr algn="ctr">
              <a:lnSpc>
                <a:spcPts val="3655"/>
              </a:lnSpc>
            </a:pPr>
            <a:r>
              <a:rPr lang="en-US" sz="2611">
                <a:solidFill>
                  <a:srgbClr val="282828"/>
                </a:solidFill>
                <a:latin typeface="The Youngest"/>
                <a:ea typeface="The Youngest"/>
                <a:cs typeface="The Youngest"/>
                <a:sym typeface="The Youngest"/>
              </a:rPr>
              <a:t>Project Title: Skill Exchange &amp; Micro-Learning Platform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5592678" y="895350"/>
            <a:ext cx="7102643" cy="1235760"/>
          </a:xfrm>
          <a:prstGeom prst="rect">
            <a:avLst/>
          </a:prstGeom>
        </p:spPr>
        <p:txBody>
          <a:bodyPr anchor="t" rtlCol="false" tIns="0" lIns="0" bIns="0" rIns="0">
            <a:spAutoFit/>
          </a:bodyPr>
          <a:lstStyle/>
          <a:p>
            <a:pPr algn="ctr">
              <a:lnSpc>
                <a:spcPts val="10139"/>
              </a:lnSpc>
            </a:pPr>
            <a:r>
              <a:rPr lang="en-US" sz="7242" b="true">
                <a:solidFill>
                  <a:srgbClr val="282828"/>
                </a:solidFill>
                <a:latin typeface="Hahmlet Bold"/>
                <a:ea typeface="Hahmlet Bold"/>
                <a:cs typeface="Hahmlet Bold"/>
                <a:sym typeface="Hahmlet Bold"/>
              </a:rPr>
              <a:t>ABSTRACT</a:t>
            </a:r>
          </a:p>
        </p:txBody>
      </p:sp>
      <p:sp>
        <p:nvSpPr>
          <p:cNvPr name="TextBox 3" id="3"/>
          <p:cNvSpPr txBox="true"/>
          <p:nvPr/>
        </p:nvSpPr>
        <p:spPr>
          <a:xfrm rot="0">
            <a:off x="1899241" y="3207502"/>
            <a:ext cx="14489518" cy="7079498"/>
          </a:xfrm>
          <a:prstGeom prst="rect">
            <a:avLst/>
          </a:prstGeom>
        </p:spPr>
        <p:txBody>
          <a:bodyPr anchor="t" rtlCol="false" tIns="0" lIns="0" bIns="0" rIns="0">
            <a:spAutoFit/>
          </a:bodyPr>
          <a:lstStyle/>
          <a:p>
            <a:pPr algn="just">
              <a:lnSpc>
                <a:spcPts val="3996"/>
              </a:lnSpc>
            </a:pPr>
            <a:r>
              <a:rPr lang="en-US" sz="2854">
                <a:solidFill>
                  <a:srgbClr val="282828"/>
                </a:solidFill>
                <a:latin typeface="The Youngest"/>
                <a:ea typeface="The Youngest"/>
                <a:cs typeface="The Youngest"/>
                <a:sym typeface="The Youngest"/>
              </a:rPr>
              <a:t>CapacityConnect </a:t>
            </a:r>
            <a:r>
              <a:rPr lang="en-US" sz="2854">
                <a:solidFill>
                  <a:srgbClr val="282828"/>
                </a:solidFill>
                <a:latin typeface="The Youngest"/>
                <a:ea typeface="The Youngest"/>
                <a:cs typeface="The Youngest"/>
                <a:sym typeface="The Youngest"/>
              </a:rPr>
              <a:t>is a peer-to-peer skill-sharing platform developed to bridge the gap between individuals who possess valuable skills and those who are looking to acquire new skills. In traditional learning environments, users often depend on formal courses, instructors, or scattered online resources, while many individuals have practical knowledge that remains underutilized. CapacityConnect provides a structured platform where users can showcase the skills they can offer, identify the skills they want to learn, discover suitable peers, and exchange knowledge. The system promotes two-way learning, allowing a user to be both a learner and a skill provider. By connecting people based on their skills and learning interests, CapacityConnect encourages collaboration, knowledge sharing, and continuous personal development. The proposed platform aims to make learning more accessible, interactive, community-driven, and mutually beneficial.</a:t>
            </a:r>
          </a:p>
          <a:p>
            <a:pPr algn="just">
              <a:lnSpc>
                <a:spcPts val="3996"/>
              </a:lnSpc>
            </a:pPr>
          </a:p>
          <a:p>
            <a:pPr algn="ctr">
              <a:lnSpc>
                <a:spcPts val="4136"/>
              </a:lnSpc>
            </a:pPr>
          </a:p>
          <a:p>
            <a:pPr algn="ctr">
              <a:lnSpc>
                <a:spcPts val="4136"/>
              </a:lnSpc>
            </a:pPr>
          </a:p>
        </p:txBody>
      </p:sp>
      <p:sp>
        <p:nvSpPr>
          <p:cNvPr name="Freeform 4" id="4"/>
          <p:cNvSpPr/>
          <p:nvPr/>
        </p:nvSpPr>
        <p:spPr>
          <a:xfrm flipH="false" flipV="false" rot="0">
            <a:off x="-1028700" y="10287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201900" y="802622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767843" y="8997443"/>
            <a:ext cx="521713" cy="52171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740531" y="509931"/>
            <a:ext cx="1037538" cy="103753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5237858" y="1284851"/>
            <a:ext cx="7908705" cy="735298"/>
          </a:xfrm>
          <a:prstGeom prst="rect">
            <a:avLst/>
          </a:prstGeom>
        </p:spPr>
        <p:txBody>
          <a:bodyPr anchor="t" rtlCol="false" tIns="0" lIns="0" bIns="0" rIns="0">
            <a:spAutoFit/>
          </a:bodyPr>
          <a:lstStyle/>
          <a:p>
            <a:pPr algn="ctr">
              <a:lnSpc>
                <a:spcPts val="6062"/>
              </a:lnSpc>
            </a:pPr>
            <a:r>
              <a:rPr lang="en-US" sz="4330" b="true">
                <a:solidFill>
                  <a:srgbClr val="282828"/>
                </a:solidFill>
                <a:latin typeface="Hahmlet Bold"/>
                <a:ea typeface="Hahmlet Bold"/>
                <a:cs typeface="Hahmlet Bold"/>
                <a:sym typeface="Hahmlet Bold"/>
              </a:rPr>
              <a:t>PROBLEM STATEMENT</a:t>
            </a:r>
          </a:p>
        </p:txBody>
      </p:sp>
      <p:sp>
        <p:nvSpPr>
          <p:cNvPr name="TextBox 3" id="3"/>
          <p:cNvSpPr txBox="true"/>
          <p:nvPr/>
        </p:nvSpPr>
        <p:spPr>
          <a:xfrm rot="0">
            <a:off x="1369794" y="2664947"/>
            <a:ext cx="15644833" cy="7924048"/>
          </a:xfrm>
          <a:prstGeom prst="rect">
            <a:avLst/>
          </a:prstGeom>
        </p:spPr>
        <p:txBody>
          <a:bodyPr anchor="t" rtlCol="false" tIns="0" lIns="0" bIns="0" rIns="0">
            <a:spAutoFit/>
          </a:bodyPr>
          <a:lstStyle/>
          <a:p>
            <a:pPr algn="just">
              <a:lnSpc>
                <a:spcPts val="3716"/>
              </a:lnSpc>
            </a:pPr>
            <a:r>
              <a:rPr lang="en-US" sz="2654">
                <a:solidFill>
                  <a:srgbClr val="282828"/>
                </a:solidFill>
                <a:latin typeface="The Youngest"/>
                <a:ea typeface="The Youngest"/>
                <a:cs typeface="The Youngest"/>
                <a:sym typeface="The Youngest"/>
              </a:rPr>
              <a:t>In today’s </a:t>
            </a:r>
            <a:r>
              <a:rPr lang="en-US" sz="2654">
                <a:solidFill>
                  <a:srgbClr val="282828"/>
                </a:solidFill>
                <a:latin typeface="The Youngest"/>
                <a:ea typeface="The Youngest"/>
                <a:cs typeface="The Youngest"/>
                <a:sym typeface="The Youngest"/>
              </a:rPr>
              <a:t>learning environment, many individuals possess valuable skills and practical knowledge, while others are looking for opportunities to learn those skills. However, there is no simple and structured platform that effectively connects skill providers with skill seekers based on their specific interests. Existing learning platforms generally follow a one-way learning model, while social platforms are not specifically designed for skill-based connections.</a:t>
            </a:r>
          </a:p>
          <a:p>
            <a:pPr algn="just">
              <a:lnSpc>
                <a:spcPts val="3716"/>
              </a:lnSpc>
            </a:pPr>
            <a:r>
              <a:rPr lang="en-US" sz="2654">
                <a:solidFill>
                  <a:srgbClr val="282828"/>
                </a:solidFill>
                <a:latin typeface="The Youngest"/>
                <a:ea typeface="The Youngest"/>
                <a:cs typeface="The Youngest"/>
                <a:sym typeface="The Youngest"/>
              </a:rPr>
              <a:t>This creates a gap between people who have skills to share and those who want to learn them, resulting in:</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Difficulty finding the right person for a specific skill</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Limited opportunities for peer-to-peer knowledge exchange</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Valuable skills remaining underutilized or undiscovered</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Lack of a centralized platform for skill discovery and connection</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Limited scope for mutual learning, where users can both teach and learn</a:t>
            </a:r>
          </a:p>
          <a:p>
            <a:pPr algn="just">
              <a:lnSpc>
                <a:spcPts val="3716"/>
              </a:lnSpc>
            </a:pPr>
            <a:r>
              <a:rPr lang="en-US" sz="2654">
                <a:solidFill>
                  <a:srgbClr val="282828"/>
                </a:solidFill>
                <a:latin typeface="The Youngest"/>
                <a:ea typeface="The Youngest"/>
                <a:cs typeface="The Youngest"/>
                <a:sym typeface="The Youngest"/>
              </a:rPr>
              <a:t>Therefore, a structured platform is needed to make skill sharing more accessible, collaborative, and mutually beneficial.</a:t>
            </a:r>
          </a:p>
          <a:p>
            <a:pPr algn="just">
              <a:lnSpc>
                <a:spcPts val="3716"/>
              </a:lnSpc>
            </a:pPr>
          </a:p>
          <a:p>
            <a:pPr algn="just">
              <a:lnSpc>
                <a:spcPts val="3716"/>
              </a:lnSpc>
            </a:pPr>
          </a:p>
          <a:p>
            <a:pPr algn="just">
              <a:lnSpc>
                <a:spcPts val="3716"/>
              </a:lnSpc>
            </a:pPr>
          </a:p>
        </p:txBody>
      </p:sp>
      <p:sp>
        <p:nvSpPr>
          <p:cNvPr name="Freeform 4" id="4"/>
          <p:cNvSpPr/>
          <p:nvPr/>
        </p:nvSpPr>
        <p:spPr>
          <a:xfrm flipH="false" flipV="false" rot="0">
            <a:off x="-1289557" y="23738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201900" y="802622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767843" y="8997443"/>
            <a:ext cx="521713" cy="52171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740531" y="509931"/>
            <a:ext cx="1037538" cy="103753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5237858" y="1284851"/>
            <a:ext cx="7908705" cy="735298"/>
          </a:xfrm>
          <a:prstGeom prst="rect">
            <a:avLst/>
          </a:prstGeom>
        </p:spPr>
        <p:txBody>
          <a:bodyPr anchor="t" rtlCol="false" tIns="0" lIns="0" bIns="0" rIns="0">
            <a:spAutoFit/>
          </a:bodyPr>
          <a:lstStyle/>
          <a:p>
            <a:pPr algn="ctr">
              <a:lnSpc>
                <a:spcPts val="6062"/>
              </a:lnSpc>
            </a:pPr>
            <a:r>
              <a:rPr lang="en-US" sz="4330" b="true">
                <a:solidFill>
                  <a:srgbClr val="282828"/>
                </a:solidFill>
                <a:latin typeface="Hahmlet Bold"/>
                <a:ea typeface="Hahmlet Bold"/>
                <a:cs typeface="Hahmlet Bold"/>
                <a:sym typeface="Hahmlet Bold"/>
              </a:rPr>
              <a:t>EXISTING SYSTEM</a:t>
            </a:r>
          </a:p>
        </p:txBody>
      </p:sp>
      <p:sp>
        <p:nvSpPr>
          <p:cNvPr name="TextBox 3" id="3"/>
          <p:cNvSpPr txBox="true"/>
          <p:nvPr/>
        </p:nvSpPr>
        <p:spPr>
          <a:xfrm rot="0">
            <a:off x="1369794" y="2664947"/>
            <a:ext cx="15644833" cy="5123698"/>
          </a:xfrm>
          <a:prstGeom prst="rect">
            <a:avLst/>
          </a:prstGeom>
        </p:spPr>
        <p:txBody>
          <a:bodyPr anchor="t" rtlCol="false" tIns="0" lIns="0" bIns="0" rIns="0">
            <a:spAutoFit/>
          </a:bodyPr>
          <a:lstStyle/>
          <a:p>
            <a:pPr algn="just">
              <a:lnSpc>
                <a:spcPts val="3716"/>
              </a:lnSpc>
            </a:pPr>
            <a:r>
              <a:rPr lang="en-US" sz="2654">
                <a:solidFill>
                  <a:srgbClr val="282828"/>
                </a:solidFill>
                <a:latin typeface="The Youngest"/>
                <a:ea typeface="The Youngest"/>
                <a:cs typeface="The Youngest"/>
                <a:sym typeface="The Youngest"/>
              </a:rPr>
              <a:t>Cu</a:t>
            </a:r>
            <a:r>
              <a:rPr lang="en-US" sz="2654">
                <a:solidFill>
                  <a:srgbClr val="282828"/>
                </a:solidFill>
                <a:latin typeface="The Youngest"/>
                <a:ea typeface="The Youngest"/>
                <a:cs typeface="The Youngest"/>
                <a:sym typeface="The Youngest"/>
              </a:rPr>
              <a:t>rrently, people use different platforms and methods to learn or share skills, but these approaches have several limitations.</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Online Learning Platforms: Provide structured courses, but mostly follow a one-way learning model.</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Video Tutorials: Offer easy access to knowledge but provide limited personal interaction.</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Social Media Platforms: Allow people to connect, but they are not specifically designed for skill-based matching.</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Personal Networks: Skill sharing depends on friends, classmates, or known contacts, which limits the reach.</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Workshops &amp; Training Programs: Can provide interaction but may involve time, location, and cost constraints.</a:t>
            </a:r>
          </a:p>
          <a:p>
            <a:pPr algn="just">
              <a:lnSpc>
                <a:spcPts val="3716"/>
              </a:lnSpc>
            </a:pPr>
          </a:p>
        </p:txBody>
      </p:sp>
      <p:sp>
        <p:nvSpPr>
          <p:cNvPr name="Freeform 4" id="4"/>
          <p:cNvSpPr/>
          <p:nvPr/>
        </p:nvSpPr>
        <p:spPr>
          <a:xfrm flipH="false" flipV="false" rot="0">
            <a:off x="-1289557" y="23738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201900" y="802622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767843" y="8997443"/>
            <a:ext cx="521713" cy="52171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740531" y="509931"/>
            <a:ext cx="1037538" cy="103753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614467" y="7873930"/>
            <a:ext cx="15644833" cy="1856623"/>
          </a:xfrm>
          <a:prstGeom prst="rect">
            <a:avLst/>
          </a:prstGeom>
        </p:spPr>
        <p:txBody>
          <a:bodyPr anchor="t" rtlCol="false" tIns="0" lIns="0" bIns="0" rIns="0">
            <a:spAutoFit/>
          </a:bodyPr>
          <a:lstStyle/>
          <a:p>
            <a:pPr algn="just">
              <a:lnSpc>
                <a:spcPts val="3716"/>
              </a:lnSpc>
            </a:pPr>
            <a:r>
              <a:rPr lang="en-US" sz="2654">
                <a:solidFill>
                  <a:srgbClr val="282828"/>
                </a:solidFill>
                <a:latin typeface="The Youngest"/>
                <a:ea typeface="The Youngest"/>
                <a:cs typeface="The Youngest"/>
                <a:sym typeface="The Youngest"/>
              </a:rPr>
              <a:t>M</a:t>
            </a:r>
            <a:r>
              <a:rPr lang="en-US" sz="2654">
                <a:solidFill>
                  <a:srgbClr val="282828"/>
                </a:solidFill>
                <a:latin typeface="The Youngest"/>
                <a:ea typeface="The Youngest"/>
                <a:cs typeface="The Youngest"/>
                <a:sym typeface="The Youngest"/>
              </a:rPr>
              <a:t>ajor Limitation:</a:t>
            </a:r>
          </a:p>
          <a:p>
            <a:pPr algn="just">
              <a:lnSpc>
                <a:spcPts val="3716"/>
              </a:lnSpc>
            </a:pPr>
            <a:r>
              <a:rPr lang="en-US" sz="2654">
                <a:solidFill>
                  <a:srgbClr val="282828"/>
                </a:solidFill>
                <a:latin typeface="The Youngest"/>
                <a:ea typeface="The Youngest"/>
                <a:cs typeface="The Youngest"/>
                <a:sym typeface="The Youngest"/>
              </a:rPr>
              <a:t>Existing solutions provide learning or social networking separately, but lack a dedicated system focused on connecting people for mutual skill sharing.</a:t>
            </a:r>
          </a:p>
          <a:p>
            <a:pPr algn="just">
              <a:lnSpc>
                <a:spcPts val="3716"/>
              </a:lnSpc>
            </a:pPr>
          </a:p>
        </p:txBody>
      </p:sp>
      <p:sp>
        <p:nvSpPr>
          <p:cNvPr name="Freeform 13" id="13"/>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2992112" y="1149222"/>
            <a:ext cx="12920999" cy="710769"/>
          </a:xfrm>
          <a:prstGeom prst="rect">
            <a:avLst/>
          </a:prstGeom>
        </p:spPr>
        <p:txBody>
          <a:bodyPr anchor="t" rtlCol="false" tIns="0" lIns="0" bIns="0" rIns="0">
            <a:spAutoFit/>
          </a:bodyPr>
          <a:lstStyle/>
          <a:p>
            <a:pPr algn="ctr">
              <a:lnSpc>
                <a:spcPts val="5749"/>
              </a:lnSpc>
            </a:pPr>
            <a:r>
              <a:rPr lang="en-US" sz="4106" b="true">
                <a:solidFill>
                  <a:srgbClr val="282828"/>
                </a:solidFill>
                <a:latin typeface="Hahmlet Bold"/>
                <a:ea typeface="Hahmlet Bold"/>
                <a:cs typeface="Hahmlet Bold"/>
                <a:sym typeface="Hahmlet Bold"/>
              </a:rPr>
              <a:t>PROPOSED SOLUTION — CapacityConnect</a:t>
            </a:r>
          </a:p>
        </p:txBody>
      </p:sp>
      <p:sp>
        <p:nvSpPr>
          <p:cNvPr name="TextBox 3" id="3"/>
          <p:cNvSpPr txBox="true"/>
          <p:nvPr/>
        </p:nvSpPr>
        <p:spPr>
          <a:xfrm rot="0">
            <a:off x="1496404" y="2940296"/>
            <a:ext cx="15644833" cy="6057148"/>
          </a:xfrm>
          <a:prstGeom prst="rect">
            <a:avLst/>
          </a:prstGeom>
        </p:spPr>
        <p:txBody>
          <a:bodyPr anchor="t" rtlCol="false" tIns="0" lIns="0" bIns="0" rIns="0">
            <a:spAutoFit/>
          </a:bodyPr>
          <a:lstStyle/>
          <a:p>
            <a:pPr algn="just">
              <a:lnSpc>
                <a:spcPts val="3716"/>
              </a:lnSpc>
            </a:pPr>
            <a:r>
              <a:rPr lang="en-US" sz="2654">
                <a:solidFill>
                  <a:srgbClr val="282828"/>
                </a:solidFill>
                <a:latin typeface="The Youngest"/>
                <a:ea typeface="The Youngest"/>
                <a:cs typeface="The Youngest"/>
                <a:sym typeface="The Youngest"/>
              </a:rPr>
              <a:t>CapacityCon</a:t>
            </a:r>
            <a:r>
              <a:rPr lang="en-US" sz="2654">
                <a:solidFill>
                  <a:srgbClr val="282828"/>
                </a:solidFill>
                <a:latin typeface="The Youngest"/>
                <a:ea typeface="The Youngest"/>
                <a:cs typeface="The Youngest"/>
                <a:sym typeface="The Youngest"/>
              </a:rPr>
              <a:t>nect proposes a centralized peer-to-peer skill-sharing platform that connects users based on the skills they can offer and the skills they want to learn. Instead of limiting users to one-way learning, the platform enables mutual knowledge exchange, allowing every user to become both a learner and a skill provider.</a:t>
            </a:r>
          </a:p>
          <a:p>
            <a:pPr algn="just">
              <a:lnSpc>
                <a:spcPts val="3716"/>
              </a:lnSpc>
            </a:pPr>
          </a:p>
          <a:p>
            <a:pPr algn="just">
              <a:lnSpc>
                <a:spcPts val="3716"/>
              </a:lnSpc>
            </a:pPr>
            <a:r>
              <a:rPr lang="en-US" sz="2654">
                <a:solidFill>
                  <a:srgbClr val="282828"/>
                </a:solidFill>
                <a:latin typeface="The Youngest"/>
                <a:ea typeface="The Youngest"/>
                <a:cs typeface="The Youngest"/>
                <a:sym typeface="The Youngest"/>
              </a:rPr>
              <a:t>How CapacityConnect Solves the Problem:</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Users create a profile and list the skills they can offer.</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Users specify the skills they want to learn.</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Th</a:t>
            </a:r>
            <a:r>
              <a:rPr lang="en-US" sz="2654">
                <a:solidFill>
                  <a:srgbClr val="282828"/>
                </a:solidFill>
                <a:latin typeface="The Youngest"/>
                <a:ea typeface="The Youngest"/>
                <a:cs typeface="The Youngest"/>
                <a:sym typeface="The Youngest"/>
              </a:rPr>
              <a:t>e system helps users discover relevant skill providers and learners.</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Users can connect with suitable peers based on their interests.</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Knowledge is exchanged through peer-to-peer interaction and collaboration.</a:t>
            </a:r>
          </a:p>
          <a:p>
            <a:pPr algn="just" marL="573134" indent="-286567" lvl="1">
              <a:lnSpc>
                <a:spcPts val="3716"/>
              </a:lnSpc>
              <a:buFont typeface="Arial"/>
              <a:buChar char="•"/>
            </a:pPr>
            <a:r>
              <a:rPr lang="en-US" sz="2654">
                <a:solidFill>
                  <a:srgbClr val="282828"/>
                </a:solidFill>
                <a:latin typeface="The Youngest"/>
                <a:ea typeface="The Youngest"/>
                <a:cs typeface="The Youngest"/>
                <a:sym typeface="The Youngest"/>
              </a:rPr>
              <a:t>The platform creates a community where users can learn, share, and grow together.</a:t>
            </a:r>
          </a:p>
          <a:p>
            <a:pPr algn="just">
              <a:lnSpc>
                <a:spcPts val="3716"/>
              </a:lnSpc>
            </a:pPr>
          </a:p>
        </p:txBody>
      </p:sp>
      <p:sp>
        <p:nvSpPr>
          <p:cNvPr name="Freeform 4" id="4"/>
          <p:cNvSpPr/>
          <p:nvPr/>
        </p:nvSpPr>
        <p:spPr>
          <a:xfrm flipH="false" flipV="false" rot="0">
            <a:off x="-1289557" y="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201900" y="802622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767843" y="8997443"/>
            <a:ext cx="521713" cy="52171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740531" y="509931"/>
            <a:ext cx="1037538" cy="103753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alpha val="56863"/>
              </a:srgbClr>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985550" y="7854252"/>
            <a:ext cx="5595842" cy="1404048"/>
          </a:xfrm>
          <a:custGeom>
            <a:avLst/>
            <a:gdLst/>
            <a:ahLst/>
            <a:cxnLst/>
            <a:rect r="r" b="b" t="t" l="l"/>
            <a:pathLst>
              <a:path h="1404048" w="5595842">
                <a:moveTo>
                  <a:pt x="0" y="0"/>
                </a:moveTo>
                <a:lnTo>
                  <a:pt x="5595842" y="0"/>
                </a:lnTo>
                <a:lnTo>
                  <a:pt x="5595842" y="1404048"/>
                </a:lnTo>
                <a:lnTo>
                  <a:pt x="0" y="14040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77708" y="1028700"/>
            <a:ext cx="5595842" cy="1404048"/>
          </a:xfrm>
          <a:custGeom>
            <a:avLst/>
            <a:gdLst/>
            <a:ahLst/>
            <a:cxnLst/>
            <a:rect r="r" b="b" t="t" l="l"/>
            <a:pathLst>
              <a:path h="1404048" w="5595842">
                <a:moveTo>
                  <a:pt x="0" y="0"/>
                </a:moveTo>
                <a:lnTo>
                  <a:pt x="5595842" y="0"/>
                </a:lnTo>
                <a:lnTo>
                  <a:pt x="5595842" y="1404048"/>
                </a:lnTo>
                <a:lnTo>
                  <a:pt x="0" y="14040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10287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2019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863504" y="3921041"/>
            <a:ext cx="12560992" cy="2197267"/>
          </a:xfrm>
          <a:prstGeom prst="rect">
            <a:avLst/>
          </a:prstGeom>
        </p:spPr>
        <p:txBody>
          <a:bodyPr anchor="t" rtlCol="false" tIns="0" lIns="0" bIns="0" rIns="0">
            <a:spAutoFit/>
          </a:bodyPr>
          <a:lstStyle/>
          <a:p>
            <a:pPr algn="ctr">
              <a:lnSpc>
                <a:spcPts val="17932"/>
              </a:lnSpc>
            </a:pPr>
            <a:r>
              <a:rPr lang="en-US" sz="12808" b="true">
                <a:solidFill>
                  <a:srgbClr val="282828"/>
                </a:solidFill>
                <a:latin typeface="Hahmlet Bold"/>
                <a:ea typeface="Hahmlet Bold"/>
                <a:cs typeface="Hahmlet Bold"/>
                <a:sym typeface="Hahmlet Bold"/>
              </a:rPr>
              <a:t>Th</a:t>
            </a:r>
            <a:r>
              <a:rPr lang="en-US" b="true" sz="12808">
                <a:solidFill>
                  <a:srgbClr val="282828"/>
                </a:solidFill>
                <a:latin typeface="Hahmlet Bold"/>
                <a:ea typeface="Hahmlet Bold"/>
                <a:cs typeface="Hahmlet Bold"/>
                <a:sym typeface="Hahmlet Bold"/>
              </a:rPr>
              <a:t>ank You</a:t>
            </a:r>
          </a:p>
        </p:txBody>
      </p:sp>
      <p:grpSp>
        <p:nvGrpSpPr>
          <p:cNvPr name="Group 7" id="7"/>
          <p:cNvGrpSpPr/>
          <p:nvPr/>
        </p:nvGrpSpPr>
        <p:grpSpPr>
          <a:xfrm rot="0">
            <a:off x="812371" y="6940043"/>
            <a:ext cx="521713" cy="52171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6953915" y="2989837"/>
            <a:ext cx="521713" cy="52171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DBDB"/>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0" y="0"/>
            <a:ext cx="2241429" cy="789117"/>
          </a:xfrm>
          <a:custGeom>
            <a:avLst/>
            <a:gdLst/>
            <a:ahLst/>
            <a:cxnLst/>
            <a:rect r="r" b="b" t="t" l="l"/>
            <a:pathLst>
              <a:path h="789117" w="2241429">
                <a:moveTo>
                  <a:pt x="0" y="0"/>
                </a:moveTo>
                <a:lnTo>
                  <a:pt x="2241429" y="0"/>
                </a:lnTo>
                <a:lnTo>
                  <a:pt x="2241429" y="789117"/>
                </a:lnTo>
                <a:lnTo>
                  <a:pt x="0" y="789117"/>
                </a:lnTo>
                <a:lnTo>
                  <a:pt x="0" y="0"/>
                </a:lnTo>
                <a:close/>
              </a:path>
            </a:pathLst>
          </a:custGeom>
          <a:blipFill>
            <a:blip r:embed="rId6"/>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DAHTUMiIKY8</dc:identifier>
  <dcterms:modified xsi:type="dcterms:W3CDTF">2011-08-01T06:04:30Z</dcterms:modified>
  <cp:revision>1</cp:revision>
  <dc:title>SKILLSYNC</dc:title>
</cp:coreProperties>
</file>